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9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alibri"/>
              </a:rPr>
              <a:t>Product launch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F9A5A"/>
                </a:solidFill>
                <a:latin typeface="Calibri"/>
              </a:rPr>
              <a:t>Marketing team ·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C294C"/>
                </a:solidFill>
                <a:latin typeface="Calibri"/>
              </a:rPr>
              <a:t>Why now?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3736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333840"/>
                </a:solidFill>
                <a:latin typeface="Calibri"/>
              </a:rPr>
              <a:t>• Online orders grew by 31% last year</a:t>
            </a:r>
          </a:p>
          <a:p>
            <a:r>
              <a:rPr sz="2400" b="0">
                <a:solidFill>
                  <a:srgbClr val="333840"/>
                </a:solidFill>
                <a:latin typeface="Calibri"/>
              </a:rPr>
              <a:t>• Customers asked for a lighter model</a:t>
            </a:r>
          </a:p>
          <a:p>
            <a:r>
              <a:rPr sz="2400" b="0">
                <a:solidFill>
                  <a:srgbClr val="333840"/>
                </a:solidFill>
                <a:latin typeface="Calibri"/>
              </a:rPr>
              <a:t>• Two competitors left the market</a:t>
            </a:r>
          </a:p>
          <a:p>
            <a:r>
              <a:rPr sz="2400" b="0">
                <a:solidFill>
                  <a:srgbClr val="333840"/>
                </a:solidFill>
                <a:latin typeface="Calibri"/>
              </a:rPr>
              <a:t>• Production costs fell by 8%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79" y="1737360"/>
            <a:ext cx="3840480" cy="2926080"/>
          </a:xfrm>
          <a:prstGeom prst="roundRect">
            <a:avLst/>
          </a:prstGeom>
          <a:solidFill>
            <a:srgbClr val="FFF1EB"/>
          </a:solidFill>
          <a:ln>
            <a:solidFill>
              <a:srgbClr val="FF5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210312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2410C"/>
                </a:solidFill>
                <a:latin typeface="Calibri"/>
              </a:rPr>
              <a:t>Target</a:t>
            </a:r>
          </a:p>
          <a:p>
            <a:r>
              <a:rPr sz="2400" b="1">
                <a:solidFill>
                  <a:srgbClr val="C2410C"/>
                </a:solidFill>
                <a:latin typeface="Calibri"/>
              </a:rPr>
              <a:t>12,000 units</a:t>
            </a:r>
          </a:p>
          <a:p>
            <a:r>
              <a:rPr sz="2400" b="1">
                <a:solidFill>
                  <a:srgbClr val="C2410C"/>
                </a:solidFill>
                <a:latin typeface="Calibri"/>
              </a:rPr>
              <a:t>in the first 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C294C"/>
                </a:solidFill>
                <a:latin typeface="Calibri"/>
              </a:rPr>
              <a:t>Sales by quarter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4206240"/>
            <a:ext cx="1280160" cy="1463040"/>
          </a:xfrm>
          <a:prstGeom prst="rect">
            <a:avLst/>
          </a:prstGeom>
          <a:solidFill>
            <a:srgbClr val="FF5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5760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840"/>
                </a:solidFill>
                <a:latin typeface="Calibri"/>
              </a:rPr>
              <a:t>Q1</a:t>
            </a:r>
          </a:p>
        </p:txBody>
      </p:sp>
      <p:sp>
        <p:nvSpPr>
          <p:cNvPr id="5" name="Rectangle 4"/>
          <p:cNvSpPr/>
          <p:nvPr/>
        </p:nvSpPr>
        <p:spPr>
          <a:xfrm>
            <a:off x="3749039" y="3657600"/>
            <a:ext cx="1280160" cy="2011680"/>
          </a:xfrm>
          <a:prstGeom prst="rect">
            <a:avLst/>
          </a:prstGeom>
          <a:solidFill>
            <a:srgbClr val="FF5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39" y="5760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840"/>
                </a:solidFill>
                <a:latin typeface="Calibri"/>
              </a:rPr>
              <a:t>Q2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3200400"/>
            <a:ext cx="1280160" cy="2468880"/>
          </a:xfrm>
          <a:prstGeom prst="rect">
            <a:avLst/>
          </a:prstGeom>
          <a:solidFill>
            <a:srgbClr val="FF5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5760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840"/>
                </a:solidFill>
                <a:latin typeface="Calibri"/>
              </a:rPr>
              <a:t>Q3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2560320"/>
            <a:ext cx="1280160" cy="3108960"/>
          </a:xfrm>
          <a:prstGeom prst="rect">
            <a:avLst/>
          </a:prstGeom>
          <a:solidFill>
            <a:srgbClr val="FF5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57607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840"/>
                </a:solidFill>
                <a:latin typeface="Calibri"/>
              </a:rPr>
              <a:t>Q4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